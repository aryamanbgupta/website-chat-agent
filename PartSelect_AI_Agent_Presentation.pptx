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37778"/>
                </a:solidFill>
                <a:latin typeface="Calibri"/>
              </a:rPr>
              <a:t>PartSelect AI Chat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1A"/>
                </a:solidFill>
                <a:latin typeface="Calibri"/>
              </a:rPr>
              <a:t>An AI-powered parts assistant built with a custom agent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54864"/>
          </a:xfrm>
          <a:prstGeom prst="rect">
            <a:avLst/>
          </a:prstGeom>
          <a:solidFill>
            <a:srgbClr val="F3C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  <a:latin typeface="Calibri"/>
              </a:rPr>
              <a:t>Aryaman Gupta  ·  Case Study for Instalily AI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PartSelect.com has 2M+ OEM appliance parts — overwhelming for customers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No AI-assisted search or diagnosis today — only basic live chat and phone support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Customers struggle to: find the right replacement part, verify compatibility with their model, diagnose symptoms, and understand installation difficulty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Calibri"/>
              </a:rPr>
              <a:t>42 candidates forked the case study repo. Only 1 fully public implementation exists.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A domain-specific AI agent that understands part numbers, model compatibility, symptoms, and installation — not a generic chatbot wrapper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⚙  Part Lookup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— hybrid semantic + keyword search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✅  Compatibility Check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— 162,976 model mappings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🔍  Symptom Diagnosis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— 159 repair guides + 51 blogs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🛠  Installation Guidance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— difficulty, video, steps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🛡  Scope Guardrails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— 3-layer defense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🎤  Voice Input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— Web Speech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7778"/>
                </a:solidFill>
                <a:latin typeface="Calibri"/>
              </a:rPr>
              <a:t>Live demo: website-chat-agent.vercel.app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Interface: Welcome &amp; Starter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1047" y="1188720"/>
            <a:ext cx="8229600" cy="4572000"/>
          </a:xfrm>
          <a:prstGeom prst="rect">
            <a:avLst/>
          </a:prstGeom>
          <a:solidFill>
            <a:srgbClr val="E0E0E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103120"/>
          <a:lstStyle/>
          <a:p>
            <a:pPr algn="ctr"/>
            <a:r>
              <a:rPr sz="1400" b="0" i="1">
                <a:solidFill>
                  <a:srgbClr val="999999"/>
                </a:solidFill>
                <a:latin typeface="Calibri"/>
              </a:rPr>
              <a:t>[starter-prompts.png]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99999"/>
                </a:solidFill>
                <a:latin typeface="Calibri"/>
              </a:rPr>
              <a:t>Guided entry points for common tasks — reduces blank-page anxiety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Interface: Multi-Turn Conversation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1047" y="1188720"/>
            <a:ext cx="8229600" cy="4572000"/>
          </a:xfrm>
          <a:prstGeom prst="rect">
            <a:avLst/>
          </a:prstGeom>
          <a:solidFill>
            <a:srgbClr val="E0E0E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103120"/>
          <a:lstStyle/>
          <a:p>
            <a:pPr algn="ctr"/>
            <a:r>
              <a:rPr sz="1400" b="0" i="1">
                <a:solidFill>
                  <a:srgbClr val="999999"/>
                </a:solidFill>
                <a:latin typeface="Calibri"/>
              </a:rPr>
              <a:t>[hero-conversation.png]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99999"/>
                </a:solidFill>
                <a:latin typeface="Calibri"/>
              </a:rPr>
              <a:t>Rich components stream in real-time: DiagnosisCards, ProductCards, quick-reply suggestions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Interface: Rich Product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E0E0E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331720"/>
          <a:lstStyle/>
          <a:p>
            <a:pPr algn="ctr"/>
            <a:r>
              <a:rPr sz="1400" b="0" i="1">
                <a:solidFill>
                  <a:srgbClr val="999999"/>
                </a:solidFill>
                <a:latin typeface="Calibri"/>
              </a:rPr>
              <a:t>[product-card.png]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Product image, name, brand, PS number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Price with stock status badge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5-star rating with review count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Installation difficulty indicator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"Fixes:" symptom tags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Direct link to PartSelect.com product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Interface: Symptom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E0E0E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331720"/>
          <a:lstStyle/>
          <a:p>
            <a:pPr algn="ctr"/>
            <a:r>
              <a:rPr sz="1400" b="0" i="1">
                <a:solidFill>
                  <a:srgbClr val="999999"/>
                </a:solidFill>
                <a:latin typeface="Calibri"/>
              </a:rPr>
              <a:t>[diagnosis-card.png]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Ranked causes with likelihood (High / Medium / Low)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Recommended replacement parts per cause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Part thumbnails with prices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Follow-up question buttons for refinement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Sources linked to repair guides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Interface: Compatibility, Voice, &amp;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3291840" cy="3474720"/>
          </a:xfrm>
          <a:prstGeom prst="rect">
            <a:avLst/>
          </a:prstGeom>
          <a:solidFill>
            <a:srgbClr val="E0E0E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54480"/>
          <a:lstStyle/>
          <a:p>
            <a:pPr algn="ctr"/>
            <a:r>
              <a:rPr sz="1400" b="0" i="1">
                <a:solidFill>
                  <a:srgbClr val="999999"/>
                </a:solidFill>
                <a:latin typeface="Calibri"/>
              </a:rPr>
              <a:t>[compatibility-badge.png]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1A"/>
                </a:solidFill>
                <a:latin typeface="Calibri"/>
              </a:rPr>
              <a:t>Verified compatible badge
with part/model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188720"/>
            <a:ext cx="3291840" cy="3474720"/>
          </a:xfrm>
          <a:prstGeom prst="rect">
            <a:avLst/>
          </a:prstGeom>
          <a:solidFill>
            <a:srgbClr val="E0E0E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54480"/>
          <a:lstStyle/>
          <a:p>
            <a:pPr algn="ctr"/>
            <a:r>
              <a:rPr sz="1400" b="0" i="1">
                <a:solidFill>
                  <a:srgbClr val="999999"/>
                </a:solidFill>
                <a:latin typeface="Calibri"/>
              </a:rPr>
              <a:t>[voice-input.png]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48463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1A"/>
                </a:solidFill>
                <a:latin typeface="Calibri"/>
              </a:rPr>
              <a:t>Mic button for hands-free
queries mid-repair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188720"/>
            <a:ext cx="3291840" cy="3474720"/>
          </a:xfrm>
          <a:prstGeom prst="rect">
            <a:avLst/>
          </a:prstGeom>
          <a:solidFill>
            <a:srgbClr val="E0E0E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54480"/>
          <a:lstStyle/>
          <a:p>
            <a:pPr algn="ctr"/>
            <a:r>
              <a:rPr sz="1400" b="0" i="1">
                <a:solidFill>
                  <a:srgbClr val="999999"/>
                </a:solidFill>
                <a:latin typeface="Calibri"/>
              </a:rPr>
              <a:t>[guardrail.png]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8463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1A"/>
                </a:solidFill>
                <a:latin typeface="Calibri"/>
              </a:rPr>
              <a:t>Polite redirect for
out-of-scope appliances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Architecture: Custom Agent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User  →  Next.js Frontend  →  SSE Stream  →  FastAPI Backend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                                                    ↓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                                          Agent Loop (while True)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                                   LLM decides → Tool call → Result → LLM decides → ...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                                                    ↓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                                          Tool Layer (5 tools)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                                                    ↓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                                       Data Layer (ChromaDB + JSON)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7778"/>
                </a:solidFill>
                <a:latin typeface="Calibri"/>
              </a:rPr>
              <a:t>~50 lines of Python. No LangChain. No LlamaIndex. Fully debuggable.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Not LangChain?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Debuggable —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The entire orchestration is ~50 lines. Every tool call, every LLM decision is logged and visible. No framework internals to trace through.</a:t>
            </a:r>
          </a:p>
          <a:p>
            <a:pPr>
              <a:spcAft>
                <a:spcPts val="18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Multi-intent —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"Is this part compatible AND how do I install it?" chains check_compatibility → get_installation_guide naturally. A state machine breaks here.</a:t>
            </a:r>
          </a:p>
          <a:p>
            <a:pPr>
              <a:spcAft>
                <a:spcPts val="18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Signal —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For a case study, custom code signals stronger engineering than wrapping a framework. Trivial to explain in a Q&amp;A.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Five Domain-Specific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80160"/>
          <a:ext cx="10881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>
                    <a:solidFill>
                      <a:srgbClr val="3377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33777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search_parts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Hybrid semantic + keyword search, 3-tier fallback (scoped → all → not found)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check_compatibility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Exact lookup against 162,976 model mappings. Honest "not in data" vs false negatives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diagnose_symptom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Symptom → ranked causes → recommended parts. Searches repair guides + blogs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get_installation_guide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Steps, difficulty (1–5), time estimate, YouTube video link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get_product_details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Full product data for rich card rendering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4754880"/>
            <a:ext cx="10881360" cy="64008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l"/>
            <a:r>
              <a:rPr sz="1400" b="0" i="1">
                <a:solidFill>
                  <a:srgbClr val="1A1A1A"/>
                </a:solidFill>
                <a:latin typeface="Calibri"/>
              </a:rPr>
              <a:t>Every tool has a required "reasoning" parameter — chain-of-thought that improves accuracy and creates an audit trail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Walkthrough: Multi-Step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1A1A1A"/>
                </a:solidFill>
                <a:latin typeface="Calibri"/>
              </a:rPr>
              <a:t>User: "My dishwasher won't drain. I have model WDT780SAEM1."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1.  Agent calls diagnose_symptom(symptom="won't drain", appliance_type="dishwasher")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2.  Returns 6 ranked causes (Piston &amp; Nut Assembly, Drain Pump, Check Valve...)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3.  Agent calls search_parts(query="dishwasher drain pump")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4.  Returns matching parts with prices and ratings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5.  Agent calls check_compatibility(part_number="PS...", model_number="WDT780SAEM1")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6.  Returns "Verified Compatible ✓"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7.  Final response: diagnosis + compatible part recommendation + install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Calibri"/>
              </a:rPr>
              <a:t>All 3 tool calls happen in a single turn — the LLM chains them automatically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LLM Choice: Gemini 2.5 Flash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94183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  <a:gridCol w="2354580"/>
                <a:gridCol w="23545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3377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TTFT</a:t>
                      </a:r>
                    </a:p>
                  </a:txBody>
                  <a:tcPr>
                    <a:solidFill>
                      <a:srgbClr val="3377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Throughput</a:t>
                      </a:r>
                    </a:p>
                  </a:txBody>
                  <a:tcPr>
                    <a:solidFill>
                      <a:srgbClr val="3377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Cost (input/1M)</a:t>
                      </a:r>
                    </a:p>
                  </a:txBody>
                  <a:tcPr>
                    <a:solidFill>
                      <a:srgbClr val="33777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Gemini 2.5 Flash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~250ms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~250 tok/s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$0.15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GPT-4.1 Mini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~800ms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~62 tok/s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$0.40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Claude Haiku 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~600ms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~79 tok/s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$0.80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4747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For a customer support chatbot, perceived speed matters enormously. 250ms TTFT vs 800ms is the difference between 'instant' and 'loading...'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9999"/>
                </a:solidFill>
                <a:latin typeface="Calibri"/>
              </a:rPr>
              <a:t>Fallback: If Gemini is down → GPT-4.1 Mini (same function-calling format)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Data: 4,170 Parts, Scraped with Playwright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37778"/>
                </a:solidFill>
                <a:latin typeface="Calibri"/>
              </a:rPr>
              <a:t>Playwright with real Chrome bypasses Akamai anti-bot protection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3377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>
                    <a:solidFill>
                      <a:srgbClr val="3377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3377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Parts (fully enhanced)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4,170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Playwright (Chrome)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Model Mappings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162,976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AJAX scroll expansion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Repair Guides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22 generic + 101 brand + 36 how-to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Blog Articles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86,587 words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Vectors in ChromaDB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~5,107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Parts + knowledge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846320"/>
            <a:ext cx="10881360" cy="64008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l"/>
            <a:r>
              <a:rPr sz="1400" b="0" i="1">
                <a:solidFill>
                  <a:srgbClr val="1A1A1A"/>
                </a:solidFill>
                <a:latin typeface="Calibri"/>
              </a:rPr>
              <a:t>Initial Firecrawl scrape: 101 parts, 30 models/part.  →  Playwright scrape: 4,170 parts, 429 models/part.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Embedding Strategy: One Part = One 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A1E00"/>
                </a:solidFill>
                <a:latin typeface="Calibri"/>
              </a:rPr>
              <a:t>✘  Traditional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Chunk raw HTML into 512-token blocks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Navigation noise, image URLs dilute quality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Part data split across multiple chunks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37778"/>
                </a:solidFill>
                <a:latin typeface="Calibri"/>
              </a:rPr>
              <a:t>✔  Our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Construct a search-optimized document per part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One part = one vector, no chunking artifacts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Metadata filtering (appliance_type, brand, chunk_type)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114800"/>
            <a:ext cx="108813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Refrigerator Door Shelf Bin by Whirlpool. PS11752778 / WPW10321304.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$36.18, 4.9 stars (351 reviews). In stock.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Fixes symptoms: Door won't close, Ice buildup, Leaking.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Three-Layer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1371600"/>
          </a:xfrm>
          <a:prstGeom prst="roundRect">
            <a:avLst/>
          </a:prstGeom>
          <a:solidFill>
            <a:srgbClr val="F0F7F7"/>
          </a:solidFill>
          <a:ln w="19050">
            <a:solidFill>
              <a:srgbClr val="337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700" b="1" i="0">
                <a:solidFill>
                  <a:srgbClr val="337778"/>
                </a:solidFill>
                <a:latin typeface="Calibri"/>
              </a:rPr>
              <a:t>1. System Prompt  </a:t>
            </a:r>
            <a:r>
              <a:rPr sz="1400" b="0" i="1">
                <a:solidFill>
                  <a:srgbClr val="999999"/>
                </a:solidFill>
                <a:latin typeface="Calibri"/>
              </a:rPr>
              <a:t>(primary)</a:t>
            </a:r>
          </a:p>
          <a:p>
            <a:pPr>
              <a:spcBef>
                <a:spcPts val="400"/>
              </a:spcBef>
            </a:pPr>
            <a:r>
              <a:rPr sz="1500" b="0" i="0">
                <a:solidFill>
                  <a:srgbClr val="1A1A1A"/>
                </a:solidFill>
                <a:latin typeface="Calibri"/>
              </a:rPr>
              <a:t>Instructs LLM to specialize in fridge/dishwasher, politely redirect off-topic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71800"/>
            <a:ext cx="10881360" cy="1371600"/>
          </a:xfrm>
          <a:prstGeom prst="roundRect">
            <a:avLst/>
          </a:prstGeom>
          <a:solidFill>
            <a:srgbClr val="F0F7F7"/>
          </a:solidFill>
          <a:ln w="19050">
            <a:solidFill>
              <a:srgbClr val="337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700" b="1" i="0">
                <a:solidFill>
                  <a:srgbClr val="337778"/>
                </a:solidFill>
                <a:latin typeface="Calibri"/>
              </a:rPr>
              <a:t>2. Rule-Based Classifier  </a:t>
            </a:r>
            <a:r>
              <a:rPr sz="1400" b="0" i="1">
                <a:solidFill>
                  <a:srgbClr val="999999"/>
                </a:solidFill>
                <a:latin typeface="Calibri"/>
              </a:rPr>
              <a:t>(zero latency, zero cost)</a:t>
            </a:r>
          </a:p>
          <a:p>
            <a:pPr>
              <a:spcBef>
                <a:spcPts val="400"/>
              </a:spcBef>
            </a:pPr>
            <a:r>
              <a:rPr sz="1500" b="0" i="0">
                <a:solidFill>
                  <a:srgbClr val="1A1A1A"/>
                </a:solidFill>
                <a:latin typeface="Calibri"/>
              </a:rPr>
              <a:t>Keyword/regex runs BEFORE the LLM. Off-topic → canned redirect, never hits the 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881360" cy="1371600"/>
          </a:xfrm>
          <a:prstGeom prst="roundRect">
            <a:avLst/>
          </a:prstGeom>
          <a:solidFill>
            <a:srgbClr val="F0F7F7"/>
          </a:solidFill>
          <a:ln w="19050">
            <a:solidFill>
              <a:srgbClr val="337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700" b="1" i="0">
                <a:solidFill>
                  <a:srgbClr val="337778"/>
                </a:solidFill>
                <a:latin typeface="Calibri"/>
              </a:rPr>
              <a:t>3. Metadata Filtering  </a:t>
            </a:r>
            <a:r>
              <a:rPr sz="1400" b="0" i="1">
                <a:solidFill>
                  <a:srgbClr val="999999"/>
                </a:solidFill>
                <a:latin typeface="Calibri"/>
              </a:rPr>
              <a:t>(data-level)</a:t>
            </a:r>
          </a:p>
          <a:p>
            <a:pPr>
              <a:spcBef>
                <a:spcPts val="400"/>
              </a:spcBef>
            </a:pPr>
            <a:r>
              <a:rPr sz="1500" b="0" i="0">
                <a:solidFill>
                  <a:srgbClr val="1A1A1A"/>
                </a:solidFill>
                <a:latin typeface="Calibri"/>
              </a:rPr>
              <a:t>ChromaDB tier-1 queries restricted to appliance_type IN ["refrigerator", "dishwasher"]. Even if LLM ignores prompt, data layer enforces scope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Extensibility: Built to Grow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37778"/>
                </a:solidFill>
                <a:latin typeface="Calibri"/>
              </a:rPr>
              <a:t>New Appliance (washing machines) → 1–2 hours
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Add "washer" to tier-1 filter, scrape repair guides, update system prompt. No re-scraping parts, no re-embedding, no code changes to agent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37778"/>
                </a:solidFill>
                <a:latin typeface="Calibri"/>
              </a:rPr>
              <a:t>New Tool (order tracking) → Half a day
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Define Python function, register with Gemini, add SSE event type, build frontend component.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37778"/>
                </a:solidFill>
                <a:latin typeface="Calibri"/>
              </a:rPr>
              <a:t>Swap LLM (Gemini → GPT-4.1) → One config value
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Agent loop is model-agnostic, tools use standard JSON schema.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Calibri"/>
              </a:rPr>
              <a:t>Why easy: We scraped ALL appliance types upfront. Scope filtering happens at query time, not ingestion.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3377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3377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3377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Next.js 16 + React 19 + Tailwind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Server components, streaming, brand styling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FastAPI + Python 3.13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Async-native, SSE streaming, fast startup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Gemini 2.5 Flash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Fastest TTFT, highest throughput, lowest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Embeddings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Gemini Embedding (768d)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Task-type optimization, multimodal-ready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Vector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ChromaDB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Zero-config, metadata filtering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Scraping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Playwright (Chrome)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Bypasses Akamai, scrolls AJAX pagination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Streaming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Works through Vercel edge/CDN, auto-reconnect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Deploy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Vercel + Docker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Free tier, edge CDN</a:t>
                      </a:r>
                    </a:p>
                  </a:txBody>
                  <a:tcPr>
                    <a:solidFill>
                      <a:srgbClr val="F0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6446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</a:rPr>
              <a:t>PartSelect AI Chat Agent — Aryaman Gupta | Instalily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Image upload for visual part identification (Gemini Embedding supports multimodal vectors)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TTS read-aloud for hands-free installation guidance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Order tracking tool integration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Part comparison side-by-side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Production: Redis sessions, Pinecone vector DB, Kubernetes scaling, Vertex AI for SLAs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37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37778"/>
                </a:solidFill>
                <a:latin typeface="Calibri"/>
              </a:rPr>
              <a:t>PartSelect AI Chat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✓  Interface Design — Rich cards, voice input, guided flows, PartSelect branded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✓  Agentic Architecture — Custom 50-line agent loop, 5 tools, reasoning audit trail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✓  Extensibility — New appliance in 2 hours, new tool in half a day, swap LLM in 1 config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✓  Query Accuracy — 162,976 models, 159 guides, hybrid search, honest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7778"/>
                </a:solidFill>
                <a:latin typeface="Calibri"/>
              </a:rPr>
              <a:t>Live Demo: website-chat-agent.vercel.app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Calibri"/>
              </a:rPr>
              <a:t>Built by Aryaman Gupta for Instalily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